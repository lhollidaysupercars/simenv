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7" r:id="rId8"/>
    <p:sldId id="265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5ED4FE-26EC-4ED6-80DE-1D9C4A3E6A65}">
          <p14:sldIdLst>
            <p14:sldId id="256"/>
            <p14:sldId id="257"/>
            <p14:sldId id="265"/>
            <p14:sldId id="261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44" y="3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EE312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SUPERCARS. 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vlracetech.com/race-engineering/" TargetMode="External"/><Relationship Id="rId2" Type="http://schemas.openxmlformats.org/officeDocument/2006/relationships/hyperlink" Target="https://www.avsimulation.com/en/scaner/add-ons/vehicle-dynamic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imulation.michelin.com/canop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 dirty="0">
                <a:cs typeface="Poppins"/>
              </a:rPr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FBCF00-0112-1BB0-D0A9-E63B3BA6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49"/>
            <a:ext cx="10515600" cy="65934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Options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13D9A1-1193-89AC-4F00-BEEDCCBF2EB1}"/>
              </a:ext>
            </a:extLst>
          </p:cNvPr>
          <p:cNvSpPr txBox="1"/>
          <p:nvPr/>
        </p:nvSpPr>
        <p:spPr>
          <a:xfrm>
            <a:off x="838200" y="940991"/>
            <a:ext cx="11077786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b="1" dirty="0">
                <a:latin typeface="Poppins" panose="00000500000000000000" pitchFamily="2" charset="0"/>
                <a:cs typeface="Poppins" panose="00000500000000000000" pitchFamily="2" charset="0"/>
              </a:rPr>
              <a:t>Required Simulation Types:</a:t>
            </a:r>
            <a:br>
              <a:rPr lang="en-AU" sz="1000" dirty="0"/>
            </a:br>
            <a:r>
              <a:rPr lang="en-AU" sz="1000" dirty="0"/>
              <a:t>	</a:t>
            </a:r>
            <a:r>
              <a:rPr lang="en-AU" sz="1000" dirty="0">
                <a:latin typeface="Poppins" panose="00000500000000000000" pitchFamily="2" charset="0"/>
                <a:cs typeface="Poppins" panose="00000500000000000000" pitchFamily="2" charset="0"/>
              </a:rPr>
              <a:t>DLTS – Dynamic Lap Time Simulation</a:t>
            </a:r>
            <a:br>
              <a:rPr lang="en-AU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AU" sz="1000" dirty="0">
                <a:latin typeface="Poppins" panose="00000500000000000000" pitchFamily="2" charset="0"/>
                <a:cs typeface="Poppins" panose="00000500000000000000" pitchFamily="2" charset="0"/>
              </a:rPr>
              <a:t>	TRP – Track Replay</a:t>
            </a:r>
            <a:br>
              <a:rPr lang="en-AU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AU" sz="1000" dirty="0">
                <a:latin typeface="Poppins" panose="00000500000000000000" pitchFamily="2" charset="0"/>
                <a:cs typeface="Poppins" panose="00000500000000000000" pitchFamily="2" charset="0"/>
              </a:rPr>
              <a:t>	SLS – Straight Line Simulation</a:t>
            </a:r>
          </a:p>
          <a:p>
            <a:r>
              <a:rPr lang="en-AU" sz="2000" dirty="0"/>
              <a:t>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A1A36-9582-C012-D793-9B714371662E}"/>
              </a:ext>
            </a:extLst>
          </p:cNvPr>
          <p:cNvSpPr txBox="1"/>
          <p:nvPr/>
        </p:nvSpPr>
        <p:spPr>
          <a:xfrm>
            <a:off x="838200" y="1942575"/>
            <a:ext cx="11201400" cy="407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Poppins" panose="00000500000000000000" pitchFamily="2" charset="0"/>
                <a:cs typeface="Poppins" panose="00000500000000000000" pitchFamily="2" charset="0"/>
              </a:rPr>
              <a:t>Simulation Options:</a:t>
            </a:r>
          </a:p>
          <a:p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	AV Simulations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→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 : Flexible Vehicle Setup: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Quickly adjust parameters like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Cx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Cz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CoG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, suspension, and tires via GUI or Python API.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Sensitivity Analysis: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Automate parameter sweeps (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Cx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Cz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CoG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, weight) and collect performance metrics such as lap time, stability, and 			braking.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Multi-Vehicle Comparison: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Easily switch between different vehicle models for controlled, comparative studies.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Visualization: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Plotting tool kit doesn’t exist, users are required to use MATLAB to extract and plot data.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Quote: $87-100K AUD for standalone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SCANeR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software (Perpetual License) 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      </a:t>
            </a:r>
          </a:p>
          <a:p>
            <a:pPr lvl="1"/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	AVL Simulations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→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 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Multiple levels</a:t>
            </a:r>
          </a:p>
          <a:p>
            <a:pPr lvl="1"/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000" b="1" dirty="0" err="1">
                <a:latin typeface="Poppins" panose="00000500000000000000" pitchFamily="2" charset="0"/>
                <a:cs typeface="Poppins" panose="00000500000000000000" pitchFamily="2" charset="0"/>
              </a:rPr>
              <a:t>go_Race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Marketed towards smaller teams, locks the vehicle model but allows parameterization of changeable parts 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[quotes requested],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			planned for planned for mid-2026 launch. The </a:t>
            </a:r>
            <a:r>
              <a:rPr lang="en-US" sz="1000" b="1" dirty="0" err="1">
                <a:latin typeface="Poppins" panose="00000500000000000000" pitchFamily="2" charset="0"/>
                <a:cs typeface="Poppins" panose="00000500000000000000" pitchFamily="2" charset="0"/>
              </a:rPr>
              <a:t>go_Race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Simulation is marketed towards lower tier teams. Approaching 				AVL to have a partnership working towards a validated model, which would incentivize lower tier teams to use the product, and in return we 			would get their simulation resources.</a:t>
            </a:r>
          </a:p>
          <a:p>
            <a:pPr lvl="1"/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AVL VSM™ RACE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: Fully customizable simulation tool, marketed towards would need extra packages to make use of it such as AVL 				DRIVE™ RACE, and AVL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Simbook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™ RACE 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[quotes requested]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</a:t>
            </a:r>
            <a:b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</a:p>
          <a:p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	Canopy Simulations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→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 : 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Reliable lap time simulation with the ability to modulate and adjust parameters, visualization of sensitivities is also available as a 	package. </a:t>
            </a:r>
          </a:p>
          <a:p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AU" sz="1000" b="1" dirty="0" err="1">
                <a:latin typeface="+mj-lt"/>
              </a:rPr>
              <a:t>ChassisSim</a:t>
            </a:r>
            <a:r>
              <a:rPr lang="en-AU" sz="1000" dirty="0"/>
              <a:t>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Discrete lap time simulations, suitable for individual simulations but won’t be applicable for an easy approachable simulation sweep.</a:t>
            </a:r>
            <a:endParaRPr lang="en-AU" sz="1000" dirty="0"/>
          </a:p>
          <a:p>
            <a:r>
              <a:rPr lang="en-AU" sz="1000" b="1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AU" sz="1000" b="1" dirty="0" err="1">
                <a:latin typeface="Poppins" panose="00000500000000000000" pitchFamily="2" charset="0"/>
                <a:cs typeface="Poppins" panose="00000500000000000000" pitchFamily="2" charset="0"/>
              </a:rPr>
              <a:t>OptimumG</a:t>
            </a:r>
            <a:r>
              <a:rPr lang="en-AU" sz="1000" b="1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AU" sz="1000" dirty="0">
                <a:latin typeface="Poppins" panose="00000500000000000000" pitchFamily="2" charset="0"/>
                <a:cs typeface="Poppins" panose="00000500000000000000" pitchFamily="2" charset="0"/>
              </a:rPr>
              <a:t>Contains parameters that users are able to change, doesn’t natively have sensitivity capabilities.</a:t>
            </a:r>
            <a:endParaRPr lang="en-US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V8 Supercars MATLAB simulations as detailed below as in house simulation</a:t>
            </a:r>
          </a:p>
          <a:p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</a:t>
            </a:r>
            <a:r>
              <a:rPr lang="en-US" sz="1000" b="1" dirty="0">
                <a:latin typeface="Poppins" panose="00000500000000000000" pitchFamily="2" charset="0"/>
                <a:cs typeface="Poppins" panose="00000500000000000000" pitchFamily="2" charset="0"/>
              </a:rPr>
              <a:t>Crowd Source: 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Require competitors to give detailed simulations are with discrete values.</a:t>
            </a:r>
            <a:b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		Competitors can manipulate the data sets here, such as flat </a:t>
            </a:r>
            <a:r>
              <a:rPr lang="en-US" sz="1000" dirty="0" err="1">
                <a:latin typeface="Poppins" panose="00000500000000000000" pitchFamily="2" charset="0"/>
                <a:cs typeface="Poppins" panose="00000500000000000000" pitchFamily="2" charset="0"/>
              </a:rPr>
              <a:t>Cz</a:t>
            </a:r>
            <a:r>
              <a:rPr lang="en-US" sz="1000" dirty="0">
                <a:latin typeface="Poppins" panose="00000500000000000000" pitchFamily="2" charset="0"/>
                <a:cs typeface="Poppins" panose="00000500000000000000" pitchFamily="2" charset="0"/>
              </a:rPr>
              <a:t> Maps, but a good first step in understanding sensitivities. </a:t>
            </a:r>
            <a:endParaRPr lang="en-US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ACA857-61CA-AAA6-98C2-0D908426A8B8}"/>
              </a:ext>
            </a:extLst>
          </p:cNvPr>
          <p:cNvSpPr txBox="1"/>
          <p:nvPr/>
        </p:nvSpPr>
        <p:spPr>
          <a:xfrm>
            <a:off x="838200" y="1310442"/>
            <a:ext cx="108045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050" b="1" dirty="0">
                <a:latin typeface="+mj-lt"/>
              </a:rPr>
              <a:t>Iterative Build Strategy:</a:t>
            </a:r>
            <a:endParaRPr lang="en-AU" sz="1050" dirty="0">
              <a:latin typeface="+mj-lt"/>
            </a:endParaRPr>
          </a:p>
          <a:p>
            <a:pPr>
              <a:buNone/>
            </a:pPr>
            <a:r>
              <a:rPr lang="en-AU" sz="1050" b="1" dirty="0">
                <a:latin typeface="+mj-lt"/>
              </a:rPr>
              <a:t>Phase 1: Point Mass QSS</a:t>
            </a:r>
            <a:endParaRPr lang="en-AU" sz="105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Single friction circle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No individual tires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Validate against simple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Get lap time sensitivity 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b="1" dirty="0">
                <a:latin typeface="+mj-lt"/>
              </a:rPr>
              <a:t>Deliverable:</a:t>
            </a:r>
            <a:r>
              <a:rPr lang="en-AU" sz="1050" dirty="0">
                <a:latin typeface="+mj-lt"/>
              </a:rPr>
              <a:t> Working BOP tool with </a:t>
            </a:r>
            <a:r>
              <a:rPr lang="en-AU" sz="1050" dirty="0" err="1">
                <a:latin typeface="+mj-lt"/>
              </a:rPr>
              <a:t>Cx</a:t>
            </a:r>
            <a:r>
              <a:rPr lang="en-AU" sz="1050" dirty="0">
                <a:latin typeface="+mj-lt"/>
              </a:rPr>
              <a:t>, </a:t>
            </a:r>
            <a:r>
              <a:rPr lang="en-AU" sz="1050" dirty="0" err="1">
                <a:latin typeface="+mj-lt"/>
              </a:rPr>
              <a:t>Cz</a:t>
            </a:r>
            <a:r>
              <a:rPr lang="en-AU" sz="1050" dirty="0">
                <a:latin typeface="+mj-lt"/>
              </a:rPr>
              <a:t>, mass sensitivities</a:t>
            </a:r>
          </a:p>
          <a:p>
            <a:pPr>
              <a:buNone/>
            </a:pPr>
            <a:r>
              <a:rPr lang="en-AU" sz="1050" b="1" dirty="0"/>
              <a:t>Phase 1a: Add </a:t>
            </a:r>
            <a:r>
              <a:rPr lang="en-A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  <a:r>
              <a:rPr lang="en-AU" sz="1050" b="1" dirty="0"/>
              <a:t>Z Elevation profile / banking</a:t>
            </a:r>
            <a:endParaRPr lang="en-AU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Addition to Phase 1, adding elevation parameter)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b="1" dirty="0">
                <a:latin typeface="+mj-lt"/>
              </a:rPr>
              <a:t>Deliverable:</a:t>
            </a:r>
            <a:r>
              <a:rPr lang="en-AU" sz="1050" dirty="0">
                <a:latin typeface="+mj-lt"/>
              </a:rPr>
              <a:t> Compare lap times to flat track</a:t>
            </a:r>
          </a:p>
          <a:p>
            <a:pPr>
              <a:buNone/>
            </a:pPr>
            <a:r>
              <a:rPr lang="en-AU" sz="1050" b="1" dirty="0">
                <a:latin typeface="+mj-lt"/>
              </a:rPr>
              <a:t>Phase 2: Add Load Transfer</a:t>
            </a:r>
            <a:endParaRPr lang="en-AU" sz="105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Keep point mass for now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Calculate weight transfer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Use it to modify available grip (lighter loaded tires have less grip)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b="1" dirty="0">
                <a:latin typeface="+mj-lt"/>
              </a:rPr>
              <a:t>Deliverable:</a:t>
            </a:r>
            <a:r>
              <a:rPr lang="en-AU" sz="1050" dirty="0">
                <a:latin typeface="+mj-lt"/>
              </a:rPr>
              <a:t> More accurate under/oversteer effects, </a:t>
            </a:r>
            <a:r>
              <a:rPr lang="en-AU" sz="1050" dirty="0" err="1">
                <a:latin typeface="+mj-lt"/>
              </a:rPr>
              <a:t>CoG</a:t>
            </a:r>
            <a:r>
              <a:rPr lang="en-AU" sz="1050" dirty="0">
                <a:latin typeface="+mj-lt"/>
              </a:rPr>
              <a:t> height sensitivity</a:t>
            </a:r>
          </a:p>
          <a:p>
            <a:pPr>
              <a:buNone/>
            </a:pPr>
            <a:r>
              <a:rPr lang="en-AU" sz="1050" b="1" dirty="0">
                <a:latin typeface="+mj-lt"/>
              </a:rPr>
              <a:t>Phase 3: Add Yaw Balance</a:t>
            </a:r>
            <a:endParaRPr lang="en-AU" sz="105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Front/rear axle forces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Steady-state yaw moment 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Simple linear tire model (C</a:t>
            </a:r>
            <a:r>
              <a:rPr lang="el-GR" sz="1050" dirty="0">
                <a:latin typeface="+mj-lt"/>
              </a:rPr>
              <a:t>α·α)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b="1" dirty="0">
                <a:latin typeface="+mj-lt"/>
              </a:rPr>
              <a:t>Deliverable:</a:t>
            </a:r>
            <a:r>
              <a:rPr lang="en-AU" sz="1050" dirty="0">
                <a:latin typeface="+mj-lt"/>
              </a:rPr>
              <a:t> Understeer/oversteer balance, </a:t>
            </a:r>
            <a:r>
              <a:rPr lang="en-AU" sz="1050" dirty="0" err="1">
                <a:latin typeface="+mj-lt"/>
              </a:rPr>
              <a:t>CoG</a:t>
            </a:r>
            <a:r>
              <a:rPr lang="en-AU" sz="1050" dirty="0">
                <a:latin typeface="+mj-lt"/>
              </a:rPr>
              <a:t> position sensitivity</a:t>
            </a:r>
          </a:p>
          <a:p>
            <a:pPr>
              <a:buNone/>
            </a:pPr>
            <a:r>
              <a:rPr lang="en-AU" sz="1050" b="1" dirty="0">
                <a:latin typeface="+mj-lt"/>
              </a:rPr>
              <a:t>Phase 4: Individual Tire Forces</a:t>
            </a:r>
            <a:endParaRPr lang="en-AU" sz="105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Four-corner load transfer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Track brake bias, differential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b="1" dirty="0">
                <a:latin typeface="+mj-lt"/>
              </a:rPr>
              <a:t>Deliverable:</a:t>
            </a:r>
            <a:r>
              <a:rPr lang="en-AU" sz="1050" dirty="0">
                <a:latin typeface="+mj-lt"/>
              </a:rPr>
              <a:t> Detailed setup sensitivity (brake bias, diff settings)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A71FF-6DB1-7192-AD5F-0AEDA1060930}"/>
              </a:ext>
            </a:extLst>
          </p:cNvPr>
          <p:cNvSpPr txBox="1"/>
          <p:nvPr/>
        </p:nvSpPr>
        <p:spPr>
          <a:xfrm>
            <a:off x="6966641" y="1310442"/>
            <a:ext cx="49839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050" b="1" dirty="0">
                <a:latin typeface="+mj-lt"/>
              </a:rPr>
              <a:t>Phase 5: Nonlinear Tire Model</a:t>
            </a:r>
            <a:endParaRPr lang="en-AU" sz="105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 err="1">
                <a:latin typeface="+mj-lt"/>
              </a:rPr>
              <a:t>Pacejka</a:t>
            </a:r>
            <a:r>
              <a:rPr lang="en-AU" sz="1050" dirty="0">
                <a:latin typeface="+mj-lt"/>
              </a:rPr>
              <a:t> or brush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Combined slip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b="1" dirty="0">
                <a:latin typeface="+mj-lt"/>
              </a:rPr>
              <a:t>Deliverable:</a:t>
            </a:r>
            <a:r>
              <a:rPr lang="en-AU" sz="1050" dirty="0">
                <a:latin typeface="+mj-lt"/>
              </a:rPr>
              <a:t> High-fidelity predictions</a:t>
            </a:r>
          </a:p>
          <a:p>
            <a:pPr>
              <a:buNone/>
            </a:pPr>
            <a:r>
              <a:rPr lang="en-AU" sz="1050" b="1" dirty="0">
                <a:latin typeface="+mj-lt"/>
              </a:rPr>
              <a:t>Phase 6: Consider Transient Dynamics (optional)</a:t>
            </a:r>
            <a:endParaRPr lang="en-AU" sz="105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If QSS isn't accurate enough, move to full dynamic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Add suspension compliance, aero platform sensitivity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Much slower but captures transient weight transfer</a:t>
            </a:r>
          </a:p>
          <a:p>
            <a:r>
              <a:rPr lang="en-AU" sz="1050" b="1" dirty="0"/>
              <a:t>Phase 7: Solid Body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Add functionality to calculate the load through all joints.</a:t>
            </a:r>
            <a:endParaRPr lang="en-AU" sz="105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Phase 8: Damper development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050" dirty="0">
                <a:solidFill>
                  <a:prstClr val="black"/>
                </a:solidFill>
                <a:latin typeface="Poppins"/>
              </a:rPr>
              <a:t>7 Post Vehicle Model, Damper development.</a:t>
            </a:r>
            <a:endParaRPr lang="en-AU" sz="105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31F50-80F9-D92D-C8CE-DF238B251423}"/>
              </a:ext>
            </a:extLst>
          </p:cNvPr>
          <p:cNvSpPr txBox="1"/>
          <p:nvPr/>
        </p:nvSpPr>
        <p:spPr>
          <a:xfrm>
            <a:off x="6966641" y="3516234"/>
            <a:ext cx="4801314" cy="2192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/>
              <a:t>Parallelization</a:t>
            </a:r>
          </a:p>
          <a:p>
            <a:pPr marL="0" lvl="1" indent="-171450"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2 Months</a:t>
            </a:r>
          </a:p>
          <a:p>
            <a:pPr marL="0" lvl="1" indent="-171450"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Non-</a:t>
            </a:r>
            <a:r>
              <a:rPr lang="en-AU" sz="1050" dirty="0" err="1">
                <a:latin typeface="+mj-lt"/>
              </a:rPr>
              <a:t>Matlab</a:t>
            </a:r>
            <a:r>
              <a:rPr lang="en-AU" sz="1050" dirty="0">
                <a:latin typeface="+mj-lt"/>
              </a:rPr>
              <a:t> toolbox implementation</a:t>
            </a:r>
          </a:p>
          <a:p>
            <a:pPr marL="457200" lvl="2" indent="-171450">
              <a:buFont typeface="Arial" panose="020B0604020202020204" pitchFamily="34" charset="0"/>
              <a:buChar char="•"/>
            </a:pPr>
            <a:r>
              <a:rPr lang="en-AU" sz="1050" dirty="0">
                <a:latin typeface="+mj-lt"/>
              </a:rPr>
              <a:t>Opening new instances instead of MATLAB</a:t>
            </a:r>
          </a:p>
          <a:p>
            <a:endParaRPr lang="en-AU" sz="1050" dirty="0"/>
          </a:p>
          <a:p>
            <a:r>
              <a:rPr lang="en-AU" sz="1050" dirty="0"/>
              <a:t>Required Software:</a:t>
            </a:r>
          </a:p>
          <a:p>
            <a:r>
              <a:rPr lang="en-AU" sz="1050" dirty="0">
                <a:latin typeface="+mj-lt"/>
              </a:rPr>
              <a:t>MATLAB 	-  $1,585 annual/3,960 perpetual</a:t>
            </a:r>
          </a:p>
          <a:p>
            <a:r>
              <a:rPr lang="en-AU" sz="1050" dirty="0">
                <a:latin typeface="+mj-lt"/>
              </a:rPr>
              <a:t>Perpetual license already owned for following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MATLAB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MATLAB Compiler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MATLAB Report Generator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+mj-lt"/>
              </a:rPr>
              <a:t>Statistics and Machine Learning Toolbox</a:t>
            </a:r>
            <a:r>
              <a:rPr lang="en-AU" sz="1050" dirty="0">
                <a:latin typeface="+mj-lt"/>
              </a:rPr>
              <a:t>		</a:t>
            </a:r>
          </a:p>
          <a:p>
            <a:r>
              <a:rPr lang="en-AU" sz="1050" dirty="0" err="1">
                <a:latin typeface="+mj-lt"/>
              </a:rPr>
              <a:t>Motec</a:t>
            </a:r>
            <a:r>
              <a:rPr lang="en-AU" sz="1050" dirty="0">
                <a:latin typeface="+mj-lt"/>
              </a:rPr>
              <a:t> API	- $2,000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ACF4BD-BCB1-02F5-0D86-8AA1B7D569D2}"/>
              </a:ext>
            </a:extLst>
          </p:cNvPr>
          <p:cNvSpPr txBox="1">
            <a:spLocks/>
          </p:cNvSpPr>
          <p:nvPr/>
        </p:nvSpPr>
        <p:spPr>
          <a:xfrm>
            <a:off x="838200" y="292999"/>
            <a:ext cx="5818632" cy="810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EE312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Supercars Simulation</a:t>
            </a:r>
          </a:p>
        </p:txBody>
      </p:sp>
    </p:spTree>
    <p:extLst>
      <p:ext uri="{BB962C8B-B14F-4D97-AF65-F5344CB8AC3E}">
        <p14:creationId xmlns:p14="http://schemas.microsoft.com/office/powerpoint/2010/main" val="410682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15FF-8257-B61B-B742-0EF83204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Report</a:t>
            </a:r>
            <a:r>
              <a:rPr lang="en-AU" sz="36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80CA9-0634-FDB1-B6F9-3E03393E6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09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1100" b="1" dirty="0"/>
              <a:t>Use MATLAB to automate reports</a:t>
            </a:r>
          </a:p>
          <a:p>
            <a:pPr marL="0"/>
            <a:r>
              <a:rPr lang="en-AU" sz="1100" dirty="0">
                <a:latin typeface="+mj-lt"/>
                <a:cs typeface="+mn-cs"/>
              </a:rPr>
              <a:t>Ensure that handling can be done for MATLAB to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Access, sort, and augment without user intervention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 err="1">
                <a:latin typeface="+mj-lt"/>
                <a:cs typeface="+mn-cs"/>
              </a:rPr>
              <a:t>Motec</a:t>
            </a:r>
            <a:r>
              <a:rPr lang="en-AU" sz="1100" dirty="0">
                <a:latin typeface="+mj-lt"/>
                <a:cs typeface="+mn-cs"/>
              </a:rPr>
              <a:t> API is needed to achieve this </a:t>
            </a:r>
          </a:p>
          <a:p>
            <a:pPr marL="45720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Involves pulling data automatically to produce reports that require time to analyse but shouldn’t require time to retrieve the data</a:t>
            </a:r>
          </a:p>
          <a:p>
            <a:pPr marL="0" indent="0">
              <a:buNone/>
            </a:pPr>
            <a:r>
              <a:rPr lang="en-AU" sz="1100" b="1" dirty="0"/>
              <a:t>Brief session overviews should be available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Timing analysis – Timing and scoring data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Tyre pressure comparison (validation for drag strip analysis) – Telemetry</a:t>
            </a:r>
          </a:p>
          <a:p>
            <a:pPr marL="457200" lvl="3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Tyre pressure stabilization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Lateral acceleration comparison – Telemetry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Longitudinal comparison – Telemetry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Top speed comparison – Telemetry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Other requests from management – Telemetry</a:t>
            </a:r>
          </a:p>
          <a:p>
            <a:pPr marL="0" indent="0">
              <a:buNone/>
            </a:pPr>
            <a:r>
              <a:rPr lang="en-AU" sz="1100" b="1" dirty="0"/>
              <a:t>API Complexities</a:t>
            </a:r>
          </a:p>
          <a:p>
            <a:pPr marL="0" lvl="1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API licenses are locked to hardware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Transfer complexities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Additional costs - ~$2k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Would need to purchase a second to transfer to the timing stand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C# used to convert to from </a:t>
            </a:r>
            <a:r>
              <a:rPr lang="en-AU" sz="1100" dirty="0" err="1">
                <a:latin typeface="+mj-lt"/>
                <a:cs typeface="+mn-cs"/>
              </a:rPr>
              <a:t>Motec</a:t>
            </a:r>
            <a:r>
              <a:rPr lang="en-AU" sz="1100" dirty="0">
                <a:latin typeface="+mj-lt"/>
                <a:cs typeface="+mn-cs"/>
              </a:rPr>
              <a:t> to a struct – would then be useable by all uses to do large augmentation on the datasets</a:t>
            </a:r>
          </a:p>
          <a:p>
            <a:pPr marL="0" lvl="3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Data is also accessible without a </a:t>
            </a:r>
            <a:r>
              <a:rPr lang="en-AU" sz="1100" dirty="0" err="1">
                <a:latin typeface="+mj-lt"/>
                <a:cs typeface="+mn-cs"/>
              </a:rPr>
              <a:t>motec</a:t>
            </a:r>
            <a:r>
              <a:rPr lang="en-AU" sz="1100" dirty="0">
                <a:latin typeface="+mj-lt"/>
                <a:cs typeface="+mn-cs"/>
              </a:rPr>
              <a:t> device, for non </a:t>
            </a:r>
            <a:r>
              <a:rPr lang="en-AU" sz="1100" dirty="0" err="1">
                <a:latin typeface="+mj-lt"/>
                <a:cs typeface="+mn-cs"/>
              </a:rPr>
              <a:t>matlab</a:t>
            </a:r>
            <a:r>
              <a:rPr lang="en-AU" sz="1100" dirty="0">
                <a:latin typeface="+mj-lt"/>
                <a:cs typeface="+mn-cs"/>
              </a:rPr>
              <a:t> users python can also access</a:t>
            </a:r>
            <a:br>
              <a:rPr lang="en-AU" sz="1100" dirty="0">
                <a:latin typeface="+mj-lt"/>
                <a:cs typeface="+mn-cs"/>
              </a:rPr>
            </a:br>
            <a:r>
              <a:rPr lang="en-AU" sz="1100" dirty="0">
                <a:latin typeface="+mj-lt"/>
                <a:cs typeface="+mn-cs"/>
              </a:rPr>
              <a:t>	import scipy.io	</a:t>
            </a:r>
            <a:br>
              <a:rPr lang="en-AU" sz="1100" dirty="0">
                <a:latin typeface="+mj-lt"/>
                <a:cs typeface="+mn-cs"/>
              </a:rPr>
            </a:br>
            <a:r>
              <a:rPr lang="en-AU" sz="1100" dirty="0">
                <a:latin typeface="+mj-lt"/>
                <a:cs typeface="+mn-cs"/>
              </a:rPr>
              <a:t>	mat = </a:t>
            </a:r>
            <a:r>
              <a:rPr lang="en-AU" sz="1100" dirty="0" err="1">
                <a:latin typeface="+mj-lt"/>
                <a:cs typeface="+mn-cs"/>
              </a:rPr>
              <a:t>scipy.io.loadmat</a:t>
            </a:r>
            <a:r>
              <a:rPr lang="en-AU" sz="1100" dirty="0">
                <a:latin typeface="+mj-lt"/>
                <a:cs typeface="+mn-cs"/>
              </a:rPr>
              <a:t>('</a:t>
            </a:r>
            <a:r>
              <a:rPr lang="en-AU" sz="1100" dirty="0" err="1">
                <a:latin typeface="+mj-lt"/>
                <a:cs typeface="+mn-cs"/>
              </a:rPr>
              <a:t>file.mat</a:t>
            </a:r>
            <a:r>
              <a:rPr lang="en-AU" sz="1100" dirty="0">
                <a:latin typeface="+mj-lt"/>
                <a:cs typeface="+mn-cs"/>
              </a:rPr>
              <a:t>’)</a:t>
            </a:r>
          </a:p>
          <a:p>
            <a:pPr marL="0" lvl="2">
              <a:buFont typeface="Arial" panose="020B0604020202020204" pitchFamily="34" charset="0"/>
              <a:buChar char="•"/>
            </a:pPr>
            <a:r>
              <a:rPr lang="en-AU" sz="1100" dirty="0">
                <a:latin typeface="+mj-lt"/>
                <a:cs typeface="+mn-cs"/>
              </a:rPr>
              <a:t>While time inefficient, compiled code can be used to test with API license on Jeffs machine</a:t>
            </a:r>
          </a:p>
        </p:txBody>
      </p:sp>
    </p:spTree>
    <p:extLst>
      <p:ext uri="{BB962C8B-B14F-4D97-AF65-F5344CB8AC3E}">
        <p14:creationId xmlns:p14="http://schemas.microsoft.com/office/powerpoint/2010/main" val="289238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C0EF-5625-C4C4-0A46-4429C70E1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FFBC-4182-CB43-A9C7-314E0F77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Quotes</a:t>
            </a:r>
            <a:endParaRPr lang="en-AU" sz="36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619E0-A8BF-8054-C38D-5758AE7A2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8869"/>
            <a:ext cx="3179868" cy="4301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11CE03-5485-3766-BD8A-FABBFFC94577}"/>
              </a:ext>
            </a:extLst>
          </p:cNvPr>
          <p:cNvSpPr txBox="1"/>
          <p:nvPr/>
        </p:nvSpPr>
        <p:spPr>
          <a:xfrm>
            <a:off x="763255" y="1688043"/>
            <a:ext cx="29706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€ </a:t>
            </a:r>
            <a:r>
              <a:rPr lang="en-AU" sz="1050" dirty="0"/>
              <a:t>4,363 x 12 months) = ~$83k AUD Annual</a:t>
            </a:r>
            <a:br>
              <a:rPr lang="en-AU" sz="1050" dirty="0"/>
            </a:br>
            <a:r>
              <a:rPr lang="en-AU" sz="1050" dirty="0"/>
              <a:t>Unrealistic</a:t>
            </a:r>
          </a:p>
        </p:txBody>
      </p:sp>
    </p:spTree>
    <p:extLst>
      <p:ext uri="{BB962C8B-B14F-4D97-AF65-F5344CB8AC3E}">
        <p14:creationId xmlns:p14="http://schemas.microsoft.com/office/powerpoint/2010/main" val="419196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CF99-0A0F-540E-3284-D7D61378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>
                <a:latin typeface="+mn-lt"/>
              </a:rPr>
              <a:t>Projection</a:t>
            </a:r>
            <a:endParaRPr lang="en-AU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A78B3-2CCB-321A-F9CB-05FAF295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Using AVL or AV simulations platform to, validate, test and develop future cars, while leasing or having an agreement which allows them the distribution and sale of our validated model. </a:t>
            </a:r>
          </a:p>
        </p:txBody>
      </p:sp>
    </p:spTree>
    <p:extLst>
      <p:ext uri="{BB962C8B-B14F-4D97-AF65-F5344CB8AC3E}">
        <p14:creationId xmlns:p14="http://schemas.microsoft.com/office/powerpoint/2010/main" val="4150966427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oppins Custom">
      <a:majorFont>
        <a:latin typeface="Poppins"/>
        <a:ea typeface=""/>
        <a:cs typeface=""/>
      </a:majorFont>
      <a:minorFont>
        <a:latin typeface="Poppins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13139</TotalTime>
  <Words>970</Words>
  <Application>Microsoft Office PowerPoint</Application>
  <PresentationFormat>Widescreen</PresentationFormat>
  <Paragraphs>97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Courier New</vt:lpstr>
      <vt:lpstr>Poppins</vt:lpstr>
      <vt:lpstr>Poppins SemiBold</vt:lpstr>
      <vt:lpstr>Rois Extra</vt:lpstr>
      <vt:lpstr>Rois Light</vt:lpstr>
      <vt:lpstr>Times New Roman</vt:lpstr>
      <vt:lpstr>Wingdings</vt:lpstr>
      <vt:lpstr>Supercars Unforgettable</vt:lpstr>
      <vt:lpstr>Custom Design</vt:lpstr>
      <vt:lpstr>1_Custom Design</vt:lpstr>
      <vt:lpstr>Simulation</vt:lpstr>
      <vt:lpstr>Options</vt:lpstr>
      <vt:lpstr>PowerPoint Presentation</vt:lpstr>
      <vt:lpstr>Report Automation</vt:lpstr>
      <vt:lpstr>Quotes</vt:lpstr>
      <vt:lpstr>Projection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171</cp:revision>
  <dcterms:created xsi:type="dcterms:W3CDTF">2023-05-18T00:57:38Z</dcterms:created>
  <dcterms:modified xsi:type="dcterms:W3CDTF">2026-01-26T23:28:38Z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